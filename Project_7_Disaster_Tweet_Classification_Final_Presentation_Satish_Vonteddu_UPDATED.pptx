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PROJECT 7</a:t>
            </a:r>
          </a:p>
          <a:p>
            <a:pPr algn="ctr">
              <a:defRPr sz="3400" b="1">
                <a:solidFill>
                  <a:srgbClr val="17324D"/>
                </a:solidFill>
              </a:defRPr>
            </a:pPr>
            <a:r>
              <a:t>Disaster Tweet Classification</a:t>
            </a:r>
          </a:p>
          <a:p>
            <a:pPr algn="ctr">
              <a:defRPr sz="2000">
                <a:solidFill>
                  <a:srgbClr val="0F766E"/>
                </a:solidFill>
              </a:defRPr>
            </a:pPr>
            <a:r>
              <a:t>Using NLP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749039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Submitted by: Satish Vonteddu</a:t>
            </a:r>
          </a:p>
          <a:p>
            <a:pPr algn="ctr">
              <a:defRPr sz="1200">
                <a:solidFill>
                  <a:srgbClr val="1F2937"/>
                </a:solidFill>
              </a:defRPr>
            </a:pPr>
            <a:r>
              <a:t>Program: Data Analytics Internship</a:t>
            </a:r>
          </a:p>
          <a:p>
            <a:pPr algn="ctr">
              <a:defRPr sz="1200">
                <a:solidFill>
                  <a:srgbClr val="1F2937"/>
                </a:solidFill>
              </a:defRPr>
            </a:pPr>
            <a:r>
              <a:t>Organization: NextHikes IT Solutions</a:t>
            </a:r>
          </a:p>
          <a:p>
            <a:pPr algn="ctr">
              <a:defRPr sz="1200">
                <a:solidFill>
                  <a:srgbClr val="1F2937"/>
                </a:solidFill>
              </a:defRPr>
            </a:pPr>
            <a:r>
              <a:t>Batch: L-110226-W2PM-B15</a:t>
            </a:r>
          </a:p>
          <a:p>
            <a:pPr algn="ctr">
              <a:defRPr sz="1200">
                <a:solidFill>
                  <a:srgbClr val="1F2937"/>
                </a:solidFill>
              </a:defRPr>
            </a:pPr>
            <a:r>
              <a:t>Submission: 15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Project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11680" cy="128016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7,613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Tweets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325880"/>
            <a:ext cx="2011680" cy="128016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5,003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325880"/>
            <a:ext cx="2011680" cy="128016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81.55%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Final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325880"/>
            <a:ext cx="2011680" cy="128016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76.80%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Final F1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325880"/>
            <a:ext cx="1737360" cy="128016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87.27%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Goal: classify tweets as real disaster vs non-disaster.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Approach: NLP preprocessing + TF-IDF + tweet-level features + machine learning.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Final model: tuned Multinomial Naive Bayes (alpha = 0.5).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Deployment: Streamlit Community Cloud with a simple prediction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Dataset &amp; EDA</a:t>
            </a:r>
          </a:p>
        </p:txBody>
      </p:sp>
      <p:pic>
        <p:nvPicPr>
          <p:cNvPr id="4" name="Picture 3" descr="p7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120640" cy="35450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32588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Dataset: twitter_disaster.csv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7,613 rows × 5 columns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4,342 non-disaster (57.03%)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3,271 disaster (42.97%)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Missing: keyword 61; location 2,534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Important: supplied CSV has 7,613 rows although the brief referenced 10,000.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Text Preprocessing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Lowercase → remove URLs/HTML → remove punctuation/special characters.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Normalize whitespace → tokenize → remove English stopwords.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WordNet lemmatization creates the cleaned final_text field.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TF-IDF: 5,000 maximum features.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Additional features: tweet length, hashtag indicator, mention indicator.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Final feature space: 5,003 features.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80/20 stratified split: 6,090 train / 1,523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Exploratory Analysis — Frequent Words &amp; Sentiment</a:t>
            </a:r>
          </a:p>
        </p:txBody>
      </p:sp>
      <p:pic>
        <p:nvPicPr>
          <p:cNvPr id="4" name="Picture 3" descr="p7_top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77840" cy="3412326"/>
          </a:xfrm>
          <a:prstGeom prst="rect">
            <a:avLst/>
          </a:prstGeom>
        </p:spPr>
      </p:pic>
      <p:pic>
        <p:nvPicPr>
          <p:cNvPr id="5" name="Picture 4" descr="p7_senti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4937760" cy="34184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52120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VADER: 3,708 negative • 2,012 neutral • 1,893 positive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Model Comparison</a:t>
            </a:r>
          </a:p>
        </p:txBody>
      </p:sp>
      <p:pic>
        <p:nvPicPr>
          <p:cNvPr id="4" name="Picture 3" descr="p7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400800" cy="3413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417320"/>
            <a:ext cx="4023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Logistic Regression: F1 75.66%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Naive Bayes: F1 76.47%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Random Forest: F1 74.22%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XGBoost: F1 70.70%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Neural Network: F1 75.06%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Cross-Validation &amp; Hyperparameter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5-fold CV F1 — Logistic Regression: mean 0.7527, std 0.0082.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5-fold CV F1 — Naive Bayes: mean 0.7394, std 0.0144.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Logistic Regression grid: C = [0.1, 1, 10], solvers liblinear/lbfgs.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Best Logistic Regression: C = 1, lbfgs; test F1 remained 75.66%.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Naive Bayes alpha grid: [0.01, 0.1, 0.5, 1, 2].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Best alpha = 0.5 → selected final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Final Model — Tuned Multinomial Naive Bayes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Alpha = 0.5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2103120" cy="132588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81.55%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325880"/>
            <a:ext cx="2103120" cy="132588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83.48%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Precision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325880"/>
            <a:ext cx="2103120" cy="132588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71.10%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Recall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325880"/>
            <a:ext cx="2103120" cy="132588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76.80%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F1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1325880"/>
            <a:ext cx="1234440" cy="132588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87.27%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Average Precision: 87.28%.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Confusion matrix: TN 777 | FP 92 | FN 189 | TP 465.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The final model was serialized and reused for application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Error Analysis &amp; Generalization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2240280" cy="141732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777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True Negative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417320"/>
            <a:ext cx="2240280" cy="141732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92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False Positive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91840"/>
            <a:ext cx="2240280" cy="141732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189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False Negative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291840"/>
            <a:ext cx="2240280" cy="141732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465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True Positive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Training F1 = 0.8382; test F1 = 0.7680.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Training-test gap = 7.02 percentage points.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This indicates a moderate training-test performance gap.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Practical inference was validated with an unseen earthquake example.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1600200" cy="114300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1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User Tweet</a:t>
            </a:r>
          </a:p>
        </p:txBody>
      </p:sp>
      <p:sp>
        <p:nvSpPr>
          <p:cNvPr id="5" name="Chevron 4"/>
          <p:cNvSpPr/>
          <p:nvPr/>
        </p:nvSpPr>
        <p:spPr>
          <a:xfrm>
            <a:off x="2130552" y="2450592"/>
            <a:ext cx="292608" cy="5486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41448" y="2148840"/>
            <a:ext cx="1600200" cy="114300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2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Preprocess</a:t>
            </a:r>
          </a:p>
        </p:txBody>
      </p:sp>
      <p:sp>
        <p:nvSpPr>
          <p:cNvPr id="7" name="Chevron 6"/>
          <p:cNvSpPr/>
          <p:nvPr/>
        </p:nvSpPr>
        <p:spPr>
          <a:xfrm>
            <a:off x="4069080" y="2450592"/>
            <a:ext cx="292608" cy="5486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9976" y="2148840"/>
            <a:ext cx="1600200" cy="114300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3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TF-IDF + 3 Features</a:t>
            </a:r>
          </a:p>
        </p:txBody>
      </p:sp>
      <p:sp>
        <p:nvSpPr>
          <p:cNvPr id="9" name="Chevron 8"/>
          <p:cNvSpPr/>
          <p:nvPr/>
        </p:nvSpPr>
        <p:spPr>
          <a:xfrm>
            <a:off x="6007608" y="2450592"/>
            <a:ext cx="292608" cy="5486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18504" y="2148840"/>
            <a:ext cx="1600200" cy="114300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4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Serialized NB Model</a:t>
            </a:r>
          </a:p>
        </p:txBody>
      </p:sp>
      <p:sp>
        <p:nvSpPr>
          <p:cNvPr id="11" name="Chevron 10"/>
          <p:cNvSpPr/>
          <p:nvPr/>
        </p:nvSpPr>
        <p:spPr>
          <a:xfrm>
            <a:off x="7946136" y="2450592"/>
            <a:ext cx="292608" cy="5486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57032" y="2148840"/>
            <a:ext cx="1600200" cy="114300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5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Prediction + Confidence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9884664" y="2450592"/>
            <a:ext cx="292608" cy="5486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95560" y="2148840"/>
            <a:ext cx="1600200" cy="114300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6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Streamlit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Local Flask version: app.py + Templates/index.html.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Public Streamlit version: disaster_classifier_app.py.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Deployment platform: Streamlit Community Cloud.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Python version configured for deployment: 3.13.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Live Application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4846320" cy="155448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93.14%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Disaster test — flood/evacuation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371600"/>
            <a:ext cx="4846320" cy="155448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79.69%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Non-disaster metaphor — cooking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Both classes were tested successfully on the public deployment.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The UI returns a clear class label and prediction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563EB"/>
                </a:solidFill>
              </a:defRPr>
            </a:pPr>
            <a:r>
              <a:t>https://disaster-tweet-classification-baylfnxfscsp4xt4dmffxa.streamlit.app/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GitHub Repository — Submission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README.md — complete project documentation and links.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disaster_classifier_app.py — Streamlit app.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app.py + Templates/index.html — Flask app.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disaster_tweet_model.pkl — trained model.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tfidf_vectorizer.pkl — vectorizer.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requirements.txt — dependencies.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.gitignore, .python-version, LICENSE — repository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563EB"/>
                </a:solidFill>
              </a:defRPr>
            </a:pPr>
            <a:r>
              <a:t>https://github.com/vsatish5621/Disaster-Tweet-Classification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Important Technical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TF-IDF was fitted before the train/test split in this project run.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That introduces mild data leakage because vocabulary statistics were exposed to the full dataset.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Therefore, the reported metrics should not be presented as a strictly leakage-free benchmark.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Recommended next step: use a scikit-learn Pipeline so TF-IDF is fitted only on training data within validation folds.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Leakage-free Pipeline and stronger validation strategy.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Word2Vec/GloVe or transformer-based embeddings.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Class weighting and threshold tuning to improve disaster recall.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Deeper error analysis for ambiguous/metaphorical tweets.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Richer UI analytics and prediction history.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External unseen-dataset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Requirement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EDA &amp; preparation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Text cleaning, tokenization &amp; lemmatization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Word-frequency &amp; sentiment exploration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TF-IDF + additional tweet features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Five candidate models + cross-validation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Hyperparameter tuning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Accuracy / Precision / Recall / F1 / ROC-AUC / AP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Confusion matrix &amp; error analysis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Model serialization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Flask local application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Streamlit public deployment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GitHub repository + live validation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3C5FD"/>
                </a:solidFill>
              </a:defRPr>
            </a:pPr>
            <a:r>
              <a:t>FINAL CONCLUSION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 complete NLP classification workflow was built, evaluated and deployed.</a:t>
            </a:r>
          </a:p>
          <a:p>
            <a:pPr algn="ctr">
              <a:defRPr sz="1800">
                <a:solidFill>
                  <a:srgbClr val="A7F3D0"/>
                </a:solidFill>
              </a:defRPr>
            </a:pPr>
            <a:r>
              <a:t>81.55% Accuracy  •  76.80% F1  •  87.27% ROC-AUC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86200"/>
            <a:ext cx="9418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GitHub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https://github.com/vsatish5621/Disaster-Tweet-Classification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Live App: https://disaster-tweet-classification-baylfnxfscsp4xt4dmffxa.streamlit.app/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ROC Curve – Tuned Multinomial Naive Bayes</a:t>
            </a:r>
          </a:p>
        </p:txBody>
      </p:sp>
      <p:pic>
        <p:nvPicPr>
          <p:cNvPr id="3" name="Picture 2" descr="ROC_Curve_Tuned_Naive_Ba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097280"/>
            <a:ext cx="9052560" cy="67607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ROC-AUC = 0.8727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Precision–Recall Curve – Tuned Multinomial Naive Bayes</a:t>
            </a:r>
          </a:p>
        </p:txBody>
      </p:sp>
      <p:pic>
        <p:nvPicPr>
          <p:cNvPr id="3" name="Picture 2" descr="Precision_Recall_Curve_Tuned_Naive_Ba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097280"/>
            <a:ext cx="9052560" cy="67607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Average Precision = 0.8728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